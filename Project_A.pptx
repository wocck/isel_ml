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62" r:id="rId12"/>
    <p:sldId id="263" r:id="rId13"/>
    <p:sldId id="271" r:id="rId14"/>
    <p:sldId id="265" r:id="rId15"/>
  </p:sldIdLst>
  <p:sldSz cx="12188825" cy="6858000"/>
  <p:notesSz cx="6858000" cy="9144000"/>
  <p:defaultTextStyle>
    <a:defPPr rtl="0">
      <a:defRPr lang="pl-pl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>
      <p:cViewPr>
        <p:scale>
          <a:sx n="75" d="100"/>
          <a:sy n="75" d="100"/>
        </p:scale>
        <p:origin x="936" y="509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Kliknij, aby edytować style wzorca tekstu</a:t>
            </a:r>
          </a:p>
          <a:p>
            <a:pPr lvl="1" rtl="0"/>
            <a:r>
              <a:t>Drugi poziom</a:t>
            </a:r>
          </a:p>
          <a:p>
            <a:pPr lvl="2" rtl="0"/>
            <a:r>
              <a:t>Trzeci poziom</a:t>
            </a:r>
          </a:p>
          <a:p>
            <a:pPr lvl="3" rtl="0"/>
            <a:r>
              <a:t>Czwarty poziom</a:t>
            </a:r>
          </a:p>
          <a:p>
            <a:pPr lvl="4" rtl="0"/>
            <a:r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linie ukośne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Łącznik prosty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Łącznik prosty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Łącznik prosty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ie dolne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Dowolny kształt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Dowolny kształt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Dowolny kształt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a — symbol zastępczy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23" name="Stopka — symbol zastępczy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Numer slajdu — symbol zastępczy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linie ukośne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Łącznik prosty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Łącznik prosty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Łącznik prosty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Obraz — symbol zastępczy 2" descr="Pusty symbol zastępczy pozwalający dodać obraz. Kliknij symbol zastępczy i wybierz obraz, który chcesz dodać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n-US"/>
              <a:t>Click icon to add picture</a:t>
            </a:r>
            <a:endParaRPr/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ie po lewej stronie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Dowolny kształt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Dowolny kształt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Dowolny kształt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l"/>
              <a:t>Kliknij, aby edytować styl wzorca tytułu</a:t>
            </a:r>
            <a:endParaRPr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l"/>
              <a:t>Edytuj style wzorca tekstu</a:t>
            </a:r>
          </a:p>
          <a:p>
            <a:pPr lvl="1" rtl="0"/>
            <a:r>
              <a:rPr lang="pl"/>
              <a:t>Drugi poziom</a:t>
            </a:r>
          </a:p>
          <a:p>
            <a:pPr lvl="2" rtl="0"/>
            <a:r>
              <a:rPr lang="pl"/>
              <a:t>Trzeci poziom</a:t>
            </a:r>
          </a:p>
          <a:p>
            <a:pPr lvl="3" rtl="0"/>
            <a:r>
              <a:rPr lang="pl"/>
              <a:t>Czwarty poziom</a:t>
            </a:r>
          </a:p>
          <a:p>
            <a:pPr lvl="4" rtl="0"/>
            <a:r>
              <a:rPr lang="pl"/>
              <a:t>Piąty poziom</a:t>
            </a:r>
            <a:endParaRPr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2016-08-01</a:t>
            </a:r>
            <a:endParaRPr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341884" y="620688"/>
            <a:ext cx="10229876" cy="2196727"/>
          </a:xfrm>
        </p:spPr>
        <p:txBody>
          <a:bodyPr rtlCol="0">
            <a:normAutofit/>
          </a:bodyPr>
          <a:lstStyle/>
          <a:p>
            <a:pPr algn="ctr"/>
            <a:r>
              <a:rPr lang="pl" dirty="0"/>
              <a:t>Machine Learning and </a:t>
            </a:r>
            <a:r>
              <a:rPr lang="pl-PL" dirty="0"/>
              <a:t>Data Mining </a:t>
            </a:r>
            <a:r>
              <a:rPr lang="pl" dirty="0"/>
              <a:t>Project A</a:t>
            </a:r>
          </a:p>
        </p:txBody>
      </p:sp>
      <p:sp>
        <p:nvSpPr>
          <p:cNvPr id="5" name="Podtytuł 4"/>
          <p:cNvSpPr>
            <a:spLocks noGrp="1"/>
          </p:cNvSpPr>
          <p:nvPr>
            <p:ph type="subTitle" idx="1"/>
          </p:nvPr>
        </p:nvSpPr>
        <p:spPr>
          <a:xfrm>
            <a:off x="1269876" y="4293096"/>
            <a:ext cx="4397228" cy="1316856"/>
          </a:xfrm>
        </p:spPr>
        <p:txBody>
          <a:bodyPr rtlCol="0">
            <a:normAutofit fontScale="85000" lnSpcReduction="20000"/>
          </a:bodyPr>
          <a:lstStyle/>
          <a:p>
            <a:r>
              <a:rPr lang="pl-PL" sz="2000" dirty="0"/>
              <a:t>Group D_16</a:t>
            </a:r>
          </a:p>
          <a:p>
            <a:endParaRPr lang="pl-PL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000" dirty="0"/>
              <a:t>Wojciech Sekula, A54219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000" dirty="0"/>
              <a:t>Keira Barazzoli, A54213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000" dirty="0"/>
              <a:t>Jakub Wilk, A53995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000" dirty="0"/>
              <a:t>Sipos Máté, A54216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pl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ytuł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en-US" dirty="0"/>
          </a:p>
        </p:txBody>
      </p:sp>
      <p:sp>
        <p:nvSpPr>
          <p:cNvPr id="14" name="Zawartość — symbol zastępczy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dirty="0"/>
              <a:t>Problem &amp; goal</a:t>
            </a:r>
            <a:endParaRPr lang="pl-PL" dirty="0"/>
          </a:p>
          <a:p>
            <a:pPr rtl="0"/>
            <a:r>
              <a:rPr lang="en-US" dirty="0"/>
              <a:t>Dataset &amp; DB </a:t>
            </a:r>
            <a:r>
              <a:rPr lang="en-US" dirty="0" err="1"/>
              <a:t>schem</a:t>
            </a:r>
            <a:r>
              <a:rPr lang="pl-PL" dirty="0"/>
              <a:t>a</a:t>
            </a:r>
          </a:p>
          <a:p>
            <a:pPr rtl="0"/>
            <a:r>
              <a:rPr lang="en-US" dirty="0"/>
              <a:t>Pipeline &amp; preprocessing</a:t>
            </a:r>
            <a:endParaRPr lang="pl-PL" dirty="0"/>
          </a:p>
          <a:p>
            <a:pPr rtl="0"/>
            <a:r>
              <a:rPr lang="en-US" dirty="0"/>
              <a:t>Models implemented (1R, ID3, Naive Bayes)</a:t>
            </a:r>
            <a:endParaRPr lang="pl-PL" dirty="0"/>
          </a:p>
          <a:p>
            <a:pPr rtl="0"/>
            <a:r>
              <a:rPr lang="en-US" dirty="0"/>
              <a:t>Results &amp; comparison</a:t>
            </a:r>
            <a:endParaRPr lang="pl-PL" dirty="0"/>
          </a:p>
          <a:p>
            <a:pPr rtl="0"/>
            <a:r>
              <a:rPr lang="en-US" dirty="0"/>
              <a:t>How to run + files submitted</a:t>
            </a:r>
            <a:endParaRPr lang="pl-PL" dirty="0"/>
          </a:p>
          <a:p>
            <a:pPr rtl="0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l-PL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Problem &amp; Goal</a:t>
            </a:r>
            <a:endParaRPr lang="p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62A8B-C8C3-9635-57C2-008F16EC6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60" y="2636912"/>
            <a:ext cx="10360501" cy="244728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Task</a:t>
            </a:r>
            <a:r>
              <a:rPr lang="en-US" dirty="0"/>
              <a:t>: Build an automated decision-support tool that suggests a contact lens type (soft, hard, none) for a patient, based on a single examination record.</a:t>
            </a:r>
            <a:endParaRPr lang="pl-PL" dirty="0"/>
          </a:p>
          <a:p>
            <a:r>
              <a:rPr lang="en-US" b="1" dirty="0"/>
              <a:t>Input</a:t>
            </a:r>
            <a:r>
              <a:rPr lang="en-US" dirty="0"/>
              <a:t>: exam features (categorical)</a:t>
            </a:r>
            <a:r>
              <a:rPr lang="pl-PL" dirty="0"/>
              <a:t>:</a:t>
            </a:r>
          </a:p>
          <a:p>
            <a:pPr lvl="1"/>
            <a:r>
              <a:rPr lang="pl-PL" dirty="0"/>
              <a:t>age_group — categorical (young | pre-presbyopic | presbyopic)</a:t>
            </a:r>
          </a:p>
          <a:p>
            <a:pPr lvl="1"/>
            <a:r>
              <a:rPr lang="pl-PL" dirty="0"/>
              <a:t>disease_name — categorical (myope | hypermetrope | astigmatic)</a:t>
            </a:r>
          </a:p>
          <a:p>
            <a:pPr lvl="1"/>
            <a:r>
              <a:rPr lang="pl-PL" dirty="0"/>
              <a:t>astigmatic — categorical (yes | no)</a:t>
            </a:r>
          </a:p>
          <a:p>
            <a:pPr lvl="1"/>
            <a:r>
              <a:rPr lang="pl-PL" dirty="0"/>
              <a:t>tear_rate — categorical (normal | reduced)</a:t>
            </a:r>
          </a:p>
          <a:p>
            <a:r>
              <a:rPr lang="en-US" b="1" dirty="0"/>
              <a:t>Goal</a:t>
            </a:r>
            <a:r>
              <a:rPr lang="en-US" dirty="0"/>
              <a:t>: Implement three classifiers from scratch: </a:t>
            </a:r>
            <a:r>
              <a:rPr lang="en-US" dirty="0" err="1"/>
              <a:t>OneR</a:t>
            </a:r>
            <a:r>
              <a:rPr lang="en-US" dirty="0"/>
              <a:t>, ID3 (decision tree), Naive Bayes</a:t>
            </a:r>
            <a:r>
              <a:rPr lang="pl-PL" dirty="0"/>
              <a:t> and provide deployable solution for suggesting contact lens type.</a:t>
            </a: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53852" y="260648"/>
            <a:ext cx="5040560" cy="1314388"/>
          </a:xfrm>
        </p:spPr>
        <p:txBody>
          <a:bodyPr rtlCol="0" anchor="b">
            <a:noAutofit/>
          </a:bodyPr>
          <a:lstStyle/>
          <a:p>
            <a:r>
              <a:rPr lang="en-US" sz="3600" dirty="0"/>
              <a:t>D</a:t>
            </a:r>
            <a:r>
              <a:rPr lang="pl-PL" sz="36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ataset</a:t>
            </a:r>
            <a:r>
              <a:rPr lang="en-US" sz="3600" dirty="0"/>
              <a:t> &amp; </a:t>
            </a:r>
            <a:r>
              <a:rPr lang="pl-PL" sz="3600" dirty="0"/>
              <a:t>DB</a:t>
            </a:r>
            <a:r>
              <a:rPr lang="en-US" sz="3600" dirty="0"/>
              <a:t> </a:t>
            </a:r>
            <a:r>
              <a:rPr lang="pl-PL" sz="36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r>
              <a:rPr lang="en-US" sz="36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chem</a:t>
            </a:r>
            <a:r>
              <a:rPr lang="pl-PL" sz="36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  <a:endParaRPr lang="pl-PL" sz="360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type="body" sz="half" idx="2"/>
          </p:nvPr>
        </p:nvSpPr>
        <p:spPr>
          <a:xfrm>
            <a:off x="765820" y="2636912"/>
            <a:ext cx="6480720" cy="1800200"/>
          </a:xfrm>
        </p:spPr>
        <p:txBody>
          <a:bodyPr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/>
              <a:t>Synthetic dataset</a:t>
            </a:r>
            <a:r>
              <a:rPr lang="pl-PL" dirty="0"/>
              <a:t> — dataset.py generates medically-consistent categorical records (configurable size)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Logical model</a:t>
            </a:r>
            <a:r>
              <a:rPr lang="en-US" dirty="0"/>
              <a:t>: </a:t>
            </a:r>
            <a:r>
              <a:rPr lang="en-US" i="1" dirty="0"/>
              <a:t>EXAMINATION</a:t>
            </a:r>
            <a:r>
              <a:rPr lang="en-US" dirty="0"/>
              <a:t> is the central fact table linking </a:t>
            </a:r>
            <a:r>
              <a:rPr lang="en-US" i="1" dirty="0"/>
              <a:t>PATIENT</a:t>
            </a:r>
            <a:r>
              <a:rPr lang="en-US" dirty="0"/>
              <a:t>, </a:t>
            </a:r>
            <a:r>
              <a:rPr lang="en-US" i="1" dirty="0"/>
              <a:t>DOCTOR</a:t>
            </a:r>
            <a:r>
              <a:rPr lang="en-US" dirty="0"/>
              <a:t>, and </a:t>
            </a:r>
            <a:r>
              <a:rPr lang="en-US" i="1" dirty="0"/>
              <a:t>DISEASE</a:t>
            </a:r>
            <a:r>
              <a:rPr lang="pl-PL" i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endParaRPr lang="pl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3B0D92E-5B72-76AD-4CC0-8843D1DD74D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348" r="2348"/>
          <a:stretch/>
        </p:blipFill>
        <p:spPr>
          <a:xfrm>
            <a:off x="7246540" y="1268760"/>
            <a:ext cx="4421867" cy="4111352"/>
          </a:xfrm>
          <a:prstGeom prst="rect">
            <a:avLst/>
          </a:prstGeom>
          <a:ln w="12700">
            <a:solidFill>
              <a:prstClr val="black">
                <a:lumMod val="75000"/>
                <a:lumOff val="25000"/>
              </a:prstClr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09836" y="140283"/>
            <a:ext cx="10360501" cy="922115"/>
          </a:xfrm>
        </p:spPr>
        <p:txBody>
          <a:bodyPr rtlCol="0" anchor="b">
            <a:normAutofit/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Pipeline &amp; preprocessing</a:t>
            </a:r>
            <a:endParaRPr lang="pl-P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074" name="Picture 2" descr="A diagram of a software model&#10;&#10;AI-generated content may be incorrect.">
            <a:extLst>
              <a:ext uri="{FF2B5EF4-FFF2-40B4-BE49-F238E27FC236}">
                <a16:creationId xmlns:a16="http://schemas.microsoft.com/office/drawing/2014/main" id="{F52A097E-5722-CFA8-DF7D-969811FB01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62164" y="1124744"/>
            <a:ext cx="4278073" cy="548213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/>
          <p:cNvSpPr>
            <a:spLocks noGrp="1"/>
          </p:cNvSpPr>
          <p:nvPr>
            <p:ph type="title"/>
          </p:nvPr>
        </p:nvSpPr>
        <p:spPr>
          <a:xfrm>
            <a:off x="1125860" y="548680"/>
            <a:ext cx="8789715" cy="753048"/>
          </a:xfrm>
        </p:spPr>
        <p:txBody>
          <a:bodyPr rtlCol="0">
            <a:normAutofit/>
          </a:bodyPr>
          <a:lstStyle/>
          <a:p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Models implemented (1R, ID3, Naive Bayes)</a:t>
            </a:r>
            <a:endParaRPr lang="pl-PL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idx="1"/>
          </p:nvPr>
        </p:nvSpPr>
        <p:spPr>
          <a:xfrm>
            <a:off x="1197868" y="1556792"/>
            <a:ext cx="10297144" cy="4680520"/>
          </a:xfrm>
        </p:spPr>
        <p:txBody>
          <a:bodyPr rtlCol="0">
            <a:normAutofit/>
          </a:bodyPr>
          <a:lstStyle/>
          <a:p>
            <a:r>
              <a:rPr lang="en-US" sz="20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Three classification models were implemented and evaluated on the categorical lens dataset:</a:t>
            </a:r>
            <a:endParaRPr lang="pl-PL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2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2350C5-ED53-BD02-1DF4-D6A58BFBF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042146"/>
              </p:ext>
            </p:extLst>
          </p:nvPr>
        </p:nvGraphicFramePr>
        <p:xfrm>
          <a:off x="1269876" y="2132856"/>
          <a:ext cx="10153128" cy="3960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9066">
                  <a:extLst>
                    <a:ext uri="{9D8B030D-6E8A-4147-A177-3AD203B41FA5}">
                      <a16:colId xmlns:a16="http://schemas.microsoft.com/office/drawing/2014/main" val="3731312429"/>
                    </a:ext>
                  </a:extLst>
                </a:gridCol>
                <a:gridCol w="7094062">
                  <a:extLst>
                    <a:ext uri="{9D8B030D-6E8A-4147-A177-3AD203B41FA5}">
                      <a16:colId xmlns:a16="http://schemas.microsoft.com/office/drawing/2014/main" val="1364317950"/>
                    </a:ext>
                  </a:extLst>
                </a:gridCol>
              </a:tblGrid>
              <a:tr h="618819">
                <a:tc>
                  <a:txBody>
                    <a:bodyPr/>
                    <a:lstStyle/>
                    <a:p>
                      <a:r>
                        <a:rPr lang="pl-PL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Idea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723377"/>
                  </a:ext>
                </a:extLst>
              </a:tr>
              <a:tr h="1113874">
                <a:tc>
                  <a:txBody>
                    <a:bodyPr/>
                    <a:lstStyle/>
                    <a:p>
                      <a:r>
                        <a:rPr lang="pl-PL" dirty="0"/>
                        <a:t>One Rule (1R)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Selects a single attribute and builds one simple decision rule based on majority class per value.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864136"/>
                  </a:ext>
                </a:extLst>
              </a:tr>
              <a:tr h="1113874">
                <a:tc>
                  <a:txBody>
                    <a:bodyPr/>
                    <a:lstStyle/>
                    <a:p>
                      <a:r>
                        <a:rPr lang="pl-PL" dirty="0"/>
                        <a:t>ID3 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Recursively splits data using </a:t>
                      </a:r>
                      <a:r>
                        <a:rPr lang="en-US" b="1" dirty="0"/>
                        <a:t>Information Gain</a:t>
                      </a:r>
                      <a:r>
                        <a:rPr lang="en-US" dirty="0"/>
                        <a:t>, producing a human-interpretable decision tree.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124600"/>
                  </a:ext>
                </a:extLst>
              </a:tr>
              <a:tr h="1113874">
                <a:tc>
                  <a:txBody>
                    <a:bodyPr/>
                    <a:lstStyle/>
                    <a:p>
                      <a:r>
                        <a:rPr lang="pl-PL" dirty="0"/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Probabilistic model using </a:t>
                      </a:r>
                      <a:r>
                        <a:rPr lang="en-US" b="1" dirty="0"/>
                        <a:t>Bayes’ theorem</a:t>
                      </a:r>
                      <a:r>
                        <a:rPr lang="en-US" dirty="0"/>
                        <a:t> with independence assumption between features.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46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Results &amp; comparison</a:t>
            </a:r>
            <a:endParaRPr lang="pl-P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Tekst — symbol zastępczy 7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7E4CB47-2529-7E42-4B26-D456111A08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1342906"/>
              </p:ext>
            </p:extLst>
          </p:nvPr>
        </p:nvGraphicFramePr>
        <p:xfrm>
          <a:off x="1053852" y="1700808"/>
          <a:ext cx="10729190" cy="4469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97177260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54443682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4749052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78506670"/>
                    </a:ext>
                  </a:extLst>
                </a:gridCol>
                <a:gridCol w="5472606">
                  <a:extLst>
                    <a:ext uri="{9D8B030D-6E8A-4147-A177-3AD203B41FA5}">
                      <a16:colId xmlns:a16="http://schemas.microsoft.com/office/drawing/2014/main" val="1890347835"/>
                    </a:ext>
                  </a:extLst>
                </a:gridCol>
              </a:tblGrid>
              <a:tr h="905232">
                <a:tc>
                  <a:txBody>
                    <a:bodyPr/>
                    <a:lstStyle/>
                    <a:p>
                      <a:r>
                        <a:rPr lang="pl-PL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Train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Test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CV Mean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151544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r>
                        <a:rPr lang="pl-PL" dirty="0"/>
                        <a:t>One Rule (1R)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96.25%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96.67%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0.963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simple rule, surprisingly strong baseline.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302661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r>
                        <a:rPr lang="pl-PL" dirty="0"/>
                        <a:t>ID3 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Perfect accuracy; tree matches underlying data logic.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312780"/>
                  </a:ext>
                </a:extLst>
              </a:tr>
              <a:tr h="1188132"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dirty="0"/>
                        <a:t>Naive Bayes</a:t>
                      </a:r>
                    </a:p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96.25%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96.67%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0.963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Stable and fast, performs simmilar to 1R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999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>
          <a:xfrm>
            <a:off x="837828" y="44624"/>
            <a:ext cx="10360501" cy="733896"/>
          </a:xfrm>
        </p:spPr>
        <p:txBody>
          <a:bodyPr rtlCol="0"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How to run + files submitted</a:t>
            </a:r>
            <a:endParaRPr lang="pl-P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B1EC92-3324-D867-E84B-1449EA211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052736"/>
            <a:ext cx="11233248" cy="527512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Configure database in </a:t>
            </a:r>
            <a:r>
              <a:rPr lang="pl-PL" i="1" dirty="0"/>
              <a:t>src/config.py </a:t>
            </a:r>
            <a:r>
              <a:rPr lang="pl-PL" dirty="0"/>
              <a:t>file (set host, name, password etc).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Generate and export data + train models: Run </a:t>
            </a:r>
            <a:r>
              <a:rPr lang="pl-PL" b="1" dirty="0"/>
              <a:t>run_main.bat </a:t>
            </a:r>
            <a:r>
              <a:rPr lang="pl-PL" dirty="0"/>
              <a:t>script.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Launch Web Application: Run </a:t>
            </a:r>
            <a:r>
              <a:rPr lang="pl-PL" b="1" dirty="0"/>
              <a:t>run_app.bat </a:t>
            </a:r>
            <a:r>
              <a:rPr lang="pl-PL" dirty="0"/>
              <a:t>script.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D4604-AAEC-286D-A7A3-89166C2CE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056" y="2852936"/>
            <a:ext cx="6408712" cy="377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D6E747-3DFD-D635-78CE-3F581887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9CAE03-9150-A6BF-EC19-C8E174312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462272"/>
          </a:xfrm>
        </p:spPr>
        <p:txBody>
          <a:bodyPr>
            <a:normAutofit fontScale="92500"/>
          </a:bodyPr>
          <a:lstStyle/>
          <a:p>
            <a:r>
              <a:rPr lang="en-US" dirty="0"/>
              <a:t>The ID3 decision tree achieved the highest and most stable performance (100% accuracy), fully capturing the underlying decision logic.</a:t>
            </a:r>
            <a:endParaRPr lang="pl-PL" dirty="0"/>
          </a:p>
          <a:p>
            <a:r>
              <a:rPr lang="en-US" dirty="0"/>
              <a:t>1R and Naive Bayes provided strong and interpretable baseline models, confirming that the dataset has clear and separable decision patterns.</a:t>
            </a:r>
            <a:endParaRPr lang="pl-PL" dirty="0"/>
          </a:p>
          <a:p>
            <a:r>
              <a:rPr lang="en-US" dirty="0"/>
              <a:t>The pipeline covers the full workflow: data modeling → synthetic data generation → training and evaluation → deployment via web interface.</a:t>
            </a:r>
            <a:endParaRPr lang="pl-PL" dirty="0"/>
          </a:p>
          <a:p>
            <a:r>
              <a:rPr lang="en-US" dirty="0"/>
              <a:t>The system can be integrated into daily ophthalmology workflows to provide decision support and can be improved further by retraining on real clinical data.</a:t>
            </a: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" dirty="0"/>
              <a:t>Dodaj tytuł </a:t>
            </a:r>
            <a:br>
              <a:rPr lang="en-US" dirty="0"/>
            </a:br>
            <a:r>
              <a:rPr lang="pl" dirty="0"/>
              <a:t>slajdu — 4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" dirty="0"/>
              <a:t>Dodaj tytuł </a:t>
            </a:r>
            <a:br>
              <a:rPr lang="en-US" dirty="0"/>
            </a:br>
            <a:r>
              <a:rPr lang="pl" dirty="0"/>
              <a:t>slajdu — 5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Obraz — symbol zastępczy 5" descr="Pusty symbol zastępczy pozwalający dodać obraz. Kliknij symbol zastępczy i wybierz obraz, który chcesz dodać.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ika 16: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45_TF02787990_TF02787990" id="{E00529DA-E8C7-496A-B228-21B879F95DFC}" vid="{0B659D47-CB99-4BE9-B333-032F2F4003AC}"/>
    </a:ext>
  </a:extLst>
</a:theme>
</file>

<file path=ppt/theme/theme2.xml><?xml version="1.0" encoding="utf-8"?>
<a:theme xmlns:a="http://schemas.openxmlformats.org/drawingml/2006/main" name="Motyw pakietu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Prezentacja Potrójne linie obwodów elektrycznych (panoramiczna)</Template>
  <TotalTime>229</TotalTime>
  <Words>510</Words>
  <Application>Microsoft Office PowerPoint</Application>
  <PresentationFormat>Custom</PresentationFormat>
  <Paragraphs>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Technika 16:9</vt:lpstr>
      <vt:lpstr>Machine Learning and Data Mining Project A</vt:lpstr>
      <vt:lpstr>Agenda</vt:lpstr>
      <vt:lpstr>Problem &amp; Goal</vt:lpstr>
      <vt:lpstr>Dataset &amp; DB Schema</vt:lpstr>
      <vt:lpstr>Pipeline &amp; preprocessing</vt:lpstr>
      <vt:lpstr>Models implemented (1R, ID3, Naive Bayes)</vt:lpstr>
      <vt:lpstr>Results &amp; comparison</vt:lpstr>
      <vt:lpstr>How to run + files submitted</vt:lpstr>
      <vt:lpstr>Conclusion</vt:lpstr>
      <vt:lpstr>Dodaj tytuł  slajdu — 4</vt:lpstr>
      <vt:lpstr>Dodaj tytuł  slajdu —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Sekuła</dc:creator>
  <cp:lastModifiedBy>Wojtek Sekuła</cp:lastModifiedBy>
  <cp:revision>1</cp:revision>
  <dcterms:created xsi:type="dcterms:W3CDTF">2025-11-06T16:38:48Z</dcterms:created>
  <dcterms:modified xsi:type="dcterms:W3CDTF">2025-11-06T20:27:52Z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